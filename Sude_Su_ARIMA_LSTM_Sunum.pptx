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5705"/>
  </p:normalViewPr>
  <p:slideViewPr>
    <p:cSldViewPr snapToGrid="0" snapToObjects="1">
      <p:cViewPr varScale="1">
        <p:scale>
          <a:sx n="122" d="100"/>
          <a:sy n="122" d="100"/>
        </p:scale>
        <p:origin x="224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468880"/>
            <a:ext cx="12191695" cy="54864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C44C"/>
                </a:solidFill>
                <a:latin typeface="Calibri"/>
              </a:rPr>
              <a:t>HACETTEPE ÜNİVERSİTESİ • AKTÜERYA BİLİMLERİ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USD/TRY Paritesinin Logaritmik Getirilerinin</a:t>
            </a:r>
          </a:p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ARIMA ve LSTM Modelleri ile</a:t>
            </a:r>
          </a:p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Karşılaştırmalı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FE0F2"/>
                </a:solidFill>
                <a:latin typeface="Calibri"/>
              </a:rPr>
              <a:t>Bir Doğrusal İstatistiksel Modelin Derin Öğrenme ile Sınanması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83011"/>
            <a:ext cx="548640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tr-TR" sz="1400" dirty="0">
                <a:solidFill>
                  <a:srgbClr val="CFE0F2"/>
                </a:solidFill>
                <a:latin typeface="Calibri"/>
              </a:rPr>
              <a:t>Öğrenci</a:t>
            </a:r>
          </a:p>
          <a:p>
            <a:pPr algn="l"/>
            <a:r>
              <a:rPr lang="tr-TR" sz="2000" b="1" i="0" dirty="0">
                <a:solidFill>
                  <a:srgbClr val="FFFFFF"/>
                </a:solidFill>
                <a:latin typeface="Calibri"/>
              </a:rPr>
              <a:t>Sude Su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 err="1">
                <a:solidFill>
                  <a:srgbClr val="CFE0F2"/>
                </a:solidFill>
                <a:latin typeface="Calibri"/>
              </a:rPr>
              <a:t>Öğrenci</a:t>
            </a:r>
            <a:r>
              <a:rPr sz="1400" b="0" i="0" dirty="0">
                <a:solidFill>
                  <a:srgbClr val="CFE0F2"/>
                </a:solidFill>
                <a:latin typeface="Calibri"/>
              </a:rPr>
              <a:t> No: 2220381037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2976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FE0F2"/>
                </a:solidFill>
                <a:latin typeface="Calibri"/>
              </a:rPr>
              <a:t>Danışman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6177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Övgücan Karadağ Erdemir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FE0F2"/>
                </a:solidFill>
                <a:latin typeface="Calibri"/>
              </a:rPr>
              <a:t>Fen Fakültesi • Aktüerya Bilimleri Bölümü • Ankara, Türkiye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Sunum Akışı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Bu çalışmanın ele alacağı altı temel başlık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  <a:latin typeface="Calibri"/>
              </a:rPr>
              <a:t>USD/TRY  •  ARIMA vs LSTM  •  Sude Su (2220381037)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2600" b="1">
                <a:solidFill>
                  <a:srgbClr val="1F4E79"/>
                </a:solidFill>
                <a:latin typeface="Calibri"/>
              </a:rPr>
              <a:t>■  </a:t>
            </a:r>
            <a:r>
              <a:rPr sz="2600">
                <a:solidFill>
                  <a:srgbClr val="222222"/>
                </a:solidFill>
                <a:latin typeface="Calibri"/>
              </a:rPr>
              <a:t>1.  Problem ve Motivasyon</a:t>
            </a:r>
          </a:p>
          <a:p>
            <a:pPr algn="l">
              <a:lnSpc>
                <a:spcPct val="180000"/>
              </a:lnSpc>
            </a:pPr>
            <a:r>
              <a:rPr sz="2600" b="1">
                <a:solidFill>
                  <a:srgbClr val="1F4E79"/>
                </a:solidFill>
                <a:latin typeface="Calibri"/>
              </a:rPr>
              <a:t>■  </a:t>
            </a:r>
            <a:r>
              <a:rPr sz="2600">
                <a:solidFill>
                  <a:srgbClr val="222222"/>
                </a:solidFill>
                <a:latin typeface="Calibri"/>
              </a:rPr>
              <a:t>2.  Literatür Özeti</a:t>
            </a:r>
          </a:p>
          <a:p>
            <a:pPr algn="l">
              <a:lnSpc>
                <a:spcPct val="180000"/>
              </a:lnSpc>
            </a:pPr>
            <a:r>
              <a:rPr sz="2600" b="1">
                <a:solidFill>
                  <a:srgbClr val="1F4E79"/>
                </a:solidFill>
                <a:latin typeface="Calibri"/>
              </a:rPr>
              <a:t>■  </a:t>
            </a:r>
            <a:r>
              <a:rPr sz="2600">
                <a:solidFill>
                  <a:srgbClr val="222222"/>
                </a:solidFill>
                <a:latin typeface="Calibri"/>
              </a:rPr>
              <a:t>3.  Yöntem: ARIMA, LSTM ve Metrikler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2600" b="1">
                <a:solidFill>
                  <a:srgbClr val="1F4E79"/>
                </a:solidFill>
                <a:latin typeface="Calibri"/>
              </a:rPr>
              <a:t>■  </a:t>
            </a:r>
            <a:r>
              <a:rPr sz="2600">
                <a:solidFill>
                  <a:srgbClr val="222222"/>
                </a:solidFill>
                <a:latin typeface="Calibri"/>
              </a:rPr>
              <a:t>4.  Eğitim Seti ve Artık Analizi</a:t>
            </a:r>
          </a:p>
          <a:p>
            <a:pPr algn="l">
              <a:lnSpc>
                <a:spcPct val="180000"/>
              </a:lnSpc>
            </a:pPr>
            <a:r>
              <a:rPr sz="2600" b="1">
                <a:solidFill>
                  <a:srgbClr val="1F4E79"/>
                </a:solidFill>
                <a:latin typeface="Calibri"/>
              </a:rPr>
              <a:t>■  </a:t>
            </a:r>
            <a:r>
              <a:rPr sz="2600">
                <a:solidFill>
                  <a:srgbClr val="222222"/>
                </a:solidFill>
                <a:latin typeface="Calibri"/>
              </a:rPr>
              <a:t>5.  Test Seti Performansı</a:t>
            </a:r>
          </a:p>
          <a:p>
            <a:pPr algn="l">
              <a:lnSpc>
                <a:spcPct val="180000"/>
              </a:lnSpc>
            </a:pPr>
            <a:r>
              <a:rPr sz="2600" b="1">
                <a:solidFill>
                  <a:srgbClr val="1F4E79"/>
                </a:solidFill>
                <a:latin typeface="Calibri"/>
              </a:rPr>
              <a:t>■  </a:t>
            </a:r>
            <a:r>
              <a:rPr sz="2600">
                <a:solidFill>
                  <a:srgbClr val="222222"/>
                </a:solidFill>
                <a:latin typeface="Calibri"/>
              </a:rPr>
              <a:t>6.  Gelecek Projeksiyon ve Sonuçlar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56677"/>
                </a:solidFill>
                <a:latin typeface="Calibri"/>
              </a:rP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 · Problem ve Motivasyon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USD/TRY tahmini neden kolay değildir?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  <a:latin typeface="Calibri"/>
              </a:rPr>
              <a:t>USD/TRY  •  ARIMA vs LSTM  •  Sude Su (2220381037)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63040"/>
            <a:ext cx="65836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40000"/>
              </a:lnSpc>
            </a:pPr>
            <a:r>
              <a:rPr sz="1700" b="1">
                <a:solidFill>
                  <a:srgbClr val="1F4E79"/>
                </a:solidFill>
                <a:latin typeface="Calibri"/>
              </a:rPr>
              <a:t>■  </a:t>
            </a:r>
            <a:r>
              <a:rPr sz="1700">
                <a:solidFill>
                  <a:srgbClr val="222222"/>
                </a:solidFill>
                <a:latin typeface="Calibri"/>
              </a:rPr>
              <a:t>Finansal getirilerin doğru modellenmesi portföy ve risk yönetimi için kritik.</a:t>
            </a:r>
          </a:p>
          <a:p>
            <a:pPr algn="just">
              <a:lnSpc>
                <a:spcPct val="140000"/>
              </a:lnSpc>
            </a:pPr>
            <a:r>
              <a:rPr sz="1700" b="1">
                <a:solidFill>
                  <a:srgbClr val="1F4E79"/>
                </a:solidFill>
                <a:latin typeface="Calibri"/>
              </a:rPr>
              <a:t>■  </a:t>
            </a:r>
            <a:r>
              <a:rPr sz="1700">
                <a:solidFill>
                  <a:srgbClr val="222222"/>
                </a:solidFill>
                <a:latin typeface="Calibri"/>
              </a:rPr>
              <a:t>USD/TRY: yüksek oynaklık, doğrusal olmayan dinamikler, zaman içinde değişen yapı.</a:t>
            </a:r>
          </a:p>
          <a:p>
            <a:pPr algn="just">
              <a:lnSpc>
                <a:spcPct val="140000"/>
              </a:lnSpc>
            </a:pPr>
            <a:r>
              <a:rPr sz="1700" b="1">
                <a:solidFill>
                  <a:srgbClr val="1F4E79"/>
                </a:solidFill>
                <a:latin typeface="Calibri"/>
              </a:rPr>
              <a:t>■  </a:t>
            </a:r>
            <a:r>
              <a:rPr sz="1700">
                <a:solidFill>
                  <a:srgbClr val="222222"/>
                </a:solidFill>
                <a:latin typeface="Calibri"/>
              </a:rPr>
              <a:t>Klasik ekonometri (ARIMA): trendi ve doğrusal otokorelasyonu iyi yakalar.</a:t>
            </a:r>
          </a:p>
          <a:p>
            <a:pPr algn="just">
              <a:lnSpc>
                <a:spcPct val="140000"/>
              </a:lnSpc>
            </a:pPr>
            <a:r>
              <a:rPr sz="1700" b="1">
                <a:solidFill>
                  <a:srgbClr val="1F4E79"/>
                </a:solidFill>
                <a:latin typeface="Calibri"/>
              </a:rPr>
              <a:t>■  </a:t>
            </a:r>
            <a:r>
              <a:rPr sz="1700">
                <a:solidFill>
                  <a:srgbClr val="222222"/>
                </a:solidFill>
                <a:latin typeface="Calibri"/>
              </a:rPr>
              <a:t>LSTM: kapı yapılarıyla uzun bellekli ve doğrusal olmayan örüntüleri öğrenir.</a:t>
            </a:r>
          </a:p>
          <a:p>
            <a:pPr algn="just">
              <a:lnSpc>
                <a:spcPct val="140000"/>
              </a:lnSpc>
            </a:pPr>
            <a:r>
              <a:rPr sz="1700" b="1">
                <a:solidFill>
                  <a:srgbClr val="1F4E79"/>
                </a:solidFill>
                <a:latin typeface="Calibri"/>
              </a:rPr>
              <a:t>■  </a:t>
            </a:r>
            <a:r>
              <a:rPr sz="1700">
                <a:solidFill>
                  <a:srgbClr val="222222"/>
                </a:solidFill>
                <a:latin typeface="Calibri"/>
              </a:rPr>
              <a:t>Bu çalışma iki yaklaşımı aynı veri üzerinde tarafsızca karşılaştırır.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554480"/>
            <a:ext cx="4480560" cy="420624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0" y="1554480"/>
            <a:ext cx="448056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79" y="1664208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Çalışmanın Amacı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331720"/>
            <a:ext cx="4206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500" b="0" i="0">
                <a:solidFill>
                  <a:srgbClr val="222222"/>
                </a:solidFill>
                <a:latin typeface="Calibri"/>
              </a:rPr>
              <a:t>USD/TRY günlük log getirilerinin tahmininde doğrusal ARIMA modeli mi yoksa LSTM mimarisi mi daha düşük hata üretir?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8862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C02A2A"/>
                </a:solidFill>
                <a:latin typeface="Calibri"/>
              </a:rPr>
              <a:t>Hipotez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297680"/>
            <a:ext cx="42062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400" b="0" i="0">
                <a:solidFill>
                  <a:srgbClr val="222222"/>
                </a:solidFill>
                <a:latin typeface="Calibri"/>
              </a:rPr>
              <a:t>Doğrusal olmayan derin öğrenme yapıları, finansal serilerdeki karmaşık örüntüleri yakalayarak ARIMA'ya kıyasla daha düşük tahmin hatası üretir.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585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56677"/>
                </a:solidFill>
                <a:latin typeface="Calibri"/>
              </a:rP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2 · Literatür Özeti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Klasik istatistikten derin öğrenmeye geçiş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  <a:latin typeface="Calibri"/>
              </a:rPr>
              <a:t>USD/TRY  •  ARIMA vs LSTM  •  Sude Su (2220381037)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3749039" cy="548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ARIMA — Doğrusal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65960"/>
            <a:ext cx="3749039" cy="429768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34747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F4E79"/>
                </a:solidFill>
                <a:latin typeface="Calibri"/>
              </a:rPr>
              <a:t>■  </a:t>
            </a:r>
            <a:r>
              <a:rPr sz="1500">
                <a:solidFill>
                  <a:srgbClr val="222222"/>
                </a:solidFill>
                <a:latin typeface="Calibri"/>
              </a:rPr>
              <a:t>Hisse fiyatlarında kısa vadeli başarı (Ariyo, 2014)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1F4E79"/>
                </a:solidFill>
                <a:latin typeface="Calibri"/>
              </a:rPr>
              <a:t>■  </a:t>
            </a:r>
            <a:r>
              <a:rPr sz="1500">
                <a:solidFill>
                  <a:srgbClr val="222222"/>
                </a:solidFill>
                <a:latin typeface="Calibri"/>
              </a:rPr>
              <a:t>56 hisse üzerinde AIC tabanlı doğru seçim (Mondal, 2014)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1F4E79"/>
                </a:solidFill>
                <a:latin typeface="Calibri"/>
              </a:rPr>
              <a:t>■  </a:t>
            </a:r>
            <a:r>
              <a:rPr sz="1500">
                <a:solidFill>
                  <a:srgbClr val="222222"/>
                </a:solidFill>
                <a:latin typeface="Calibri"/>
              </a:rPr>
              <a:t>USD/TRY 2005–2017: kısa dönemli model üstün (Yıldıran, 2017)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1F4E79"/>
                </a:solidFill>
                <a:latin typeface="Calibri"/>
              </a:rPr>
              <a:t>■  </a:t>
            </a:r>
            <a:r>
              <a:rPr sz="1500">
                <a:solidFill>
                  <a:srgbClr val="222222"/>
                </a:solidFill>
                <a:latin typeface="Calibri"/>
              </a:rPr>
              <a:t>Düşük oynaklıkta hâlâ rekabetçi (Albeladi, 2023)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417320"/>
            <a:ext cx="3749039" cy="54864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150876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LSTM — Derin Öğrenme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965960"/>
            <a:ext cx="3749039" cy="429768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0" y="2103120"/>
            <a:ext cx="34747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C02A2A"/>
                </a:solidFill>
                <a:latin typeface="Calibri"/>
              </a:rPr>
              <a:t>■  </a:t>
            </a:r>
            <a:r>
              <a:rPr sz="1500">
                <a:solidFill>
                  <a:srgbClr val="222222"/>
                </a:solidFill>
                <a:latin typeface="Calibri"/>
              </a:rPr>
              <a:t>Kaybolan gradyan problemini gate ile çözer (Hochreiter, 1997)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C02A2A"/>
                </a:solidFill>
                <a:latin typeface="Calibri"/>
              </a:rPr>
              <a:t>■  </a:t>
            </a:r>
            <a:r>
              <a:rPr sz="1500">
                <a:solidFill>
                  <a:srgbClr val="222222"/>
                </a:solidFill>
                <a:latin typeface="Calibri"/>
              </a:rPr>
              <a:t>ARIMA'ya kıyasla %84–87 hata azaltımı (Siami-Namini, 2018)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C02A2A"/>
                </a:solidFill>
                <a:latin typeface="Calibri"/>
              </a:rPr>
              <a:t>■  </a:t>
            </a:r>
            <a:r>
              <a:rPr sz="1500">
                <a:solidFill>
                  <a:srgbClr val="222222"/>
                </a:solidFill>
                <a:latin typeface="Calibri"/>
              </a:rPr>
              <a:t>Bitcoin gibi yüksek oynaklıkta üstün (Tanışman, 2022)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C02A2A"/>
                </a:solidFill>
                <a:latin typeface="Calibri"/>
              </a:rPr>
              <a:t>■  </a:t>
            </a:r>
            <a:r>
              <a:rPr sz="1500">
                <a:solidFill>
                  <a:srgbClr val="222222"/>
                </a:solidFill>
                <a:latin typeface="Calibri"/>
              </a:rPr>
              <a:t>BiLSTM ek bir iyileşme sağlar (Siami-Namini, 2019)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3749039" cy="54864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50876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Hibrit Yaklaşımlar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965960"/>
            <a:ext cx="3749039" cy="429768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2103120"/>
            <a:ext cx="34747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0B2C4A"/>
                </a:solidFill>
                <a:latin typeface="Calibri"/>
              </a:rPr>
              <a:t>■  </a:t>
            </a:r>
            <a:r>
              <a:rPr sz="1500">
                <a:solidFill>
                  <a:srgbClr val="222222"/>
                </a:solidFill>
                <a:latin typeface="Calibri"/>
              </a:rPr>
              <a:t>Zhang (2003): ARIMA + ANN hibrit fikrinin temeli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0B2C4A"/>
                </a:solidFill>
                <a:latin typeface="Calibri"/>
              </a:rPr>
              <a:t>■  </a:t>
            </a:r>
            <a:r>
              <a:rPr sz="1500">
                <a:solidFill>
                  <a:srgbClr val="222222"/>
                </a:solidFill>
                <a:latin typeface="Calibri"/>
              </a:rPr>
              <a:t>ARIMA-CNN-LSTM karbon fiyatlarında (Ji, 2019)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0B2C4A"/>
                </a:solidFill>
                <a:latin typeface="Calibri"/>
              </a:rPr>
              <a:t>■  </a:t>
            </a:r>
            <a:r>
              <a:rPr sz="1500">
                <a:solidFill>
                  <a:srgbClr val="222222"/>
                </a:solidFill>
                <a:latin typeface="Calibri"/>
              </a:rPr>
              <a:t>LSTM-ARIMA üç endeks üzerinde en yüksek risk-ayarlı getiri (Kashif, 2024)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0B2C4A"/>
                </a:solidFill>
                <a:latin typeface="Calibri"/>
              </a:rPr>
              <a:t>■  </a:t>
            </a:r>
            <a:r>
              <a:rPr sz="1500">
                <a:solidFill>
                  <a:srgbClr val="222222"/>
                </a:solidFill>
                <a:latin typeface="Calibri"/>
              </a:rPr>
              <a:t>Bankacılık verisinde MAPE iyileşmesi (Alharbi, 2025)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85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56677"/>
                </a:solidFill>
                <a:latin typeface="Calibri"/>
              </a:rP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3 · Yöntem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Uygulama akışı — 9 adımda özetle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  <a:latin typeface="Calibri"/>
              </a:rPr>
              <a:t>USD/TRY  •  ARIMA vs LSTM  •  Sude Su (2220381037)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3749039" cy="155448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640080" cy="1554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82880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600200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2C4A"/>
                </a:solidFill>
                <a:latin typeface="Calibri"/>
              </a:rPr>
              <a:t>Veri çekimi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011680"/>
            <a:ext cx="292607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Yahoo Finance · TRY=X · quantmod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417320"/>
            <a:ext cx="3749039" cy="155448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59" y="1417320"/>
            <a:ext cx="640080" cy="1554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59" y="182880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199" y="1600200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2C4A"/>
                </a:solidFill>
                <a:latin typeface="Calibri"/>
              </a:rPr>
              <a:t>İş günü takvimi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199" y="2011680"/>
            <a:ext cx="292607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Hafta sonu + tatil → NA → interpolasyon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38" y="1417320"/>
            <a:ext cx="3749039" cy="155448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92438" y="1417320"/>
            <a:ext cx="640080" cy="1554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92438" y="182880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78" y="1600200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2C4A"/>
                </a:solidFill>
                <a:latin typeface="Calibri"/>
              </a:rPr>
              <a:t>Log getiri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78" y="2011680"/>
            <a:ext cx="292607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r_t = ln(P_t / P_{t-1})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108960"/>
            <a:ext cx="3749039" cy="155448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1480" y="3108960"/>
            <a:ext cx="640080" cy="1554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352044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291840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2C4A"/>
                </a:solidFill>
                <a:latin typeface="Calibri"/>
              </a:rPr>
              <a:t>Bölme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703320"/>
            <a:ext cx="292607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%80 eğitim (488)  •  %20 test (132)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3108960"/>
            <a:ext cx="3749039" cy="155448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51959" y="3108960"/>
            <a:ext cx="640080" cy="1554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51959" y="352044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199" y="3291840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2C4A"/>
                </a:solidFill>
                <a:latin typeface="Calibri"/>
              </a:rPr>
              <a:t>ADF testi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199" y="3703320"/>
            <a:ext cx="292607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p &lt; 0.01 → durağan, d = 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92438" y="3108960"/>
            <a:ext cx="3749039" cy="155448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92438" y="3108960"/>
            <a:ext cx="640080" cy="1554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92438" y="352044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78" y="3291840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2C4A"/>
                </a:solidFill>
                <a:latin typeface="Calibri"/>
              </a:rPr>
              <a:t>ARIMA seçimi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78" y="3703320"/>
            <a:ext cx="292607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auto.arima() · AIC kriteri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800600"/>
            <a:ext cx="3749039" cy="155448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11480" y="4800600"/>
            <a:ext cx="640080" cy="1554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1480" y="521208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4983480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2C4A"/>
                </a:solidFill>
                <a:latin typeface="Calibri"/>
              </a:rPr>
              <a:t>LSTM eğitimi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5394960"/>
            <a:ext cx="292607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20-pencere · 2 katman · Adam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51959" y="4800600"/>
            <a:ext cx="3749039" cy="155448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251959" y="4800600"/>
            <a:ext cx="640080" cy="1554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251959" y="521208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199" y="4983480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2C4A"/>
                </a:solidFill>
                <a:latin typeface="Calibri"/>
              </a:rPr>
              <a:t>Test tahmini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199" y="5394960"/>
            <a:ext cx="292607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Çok adımlı özyinelemeli projeksiyon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92438" y="4800600"/>
            <a:ext cx="3749039" cy="155448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092438" y="4800600"/>
            <a:ext cx="640080" cy="1554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92438" y="521208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69678" y="4983480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2C4A"/>
                </a:solidFill>
                <a:latin typeface="Calibri"/>
              </a:rPr>
              <a:t>Tanı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78" y="5394960"/>
            <a:ext cx="292607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Artıklarda ADF + Ljung-Box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8585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56677"/>
                </a:solidFill>
                <a:latin typeface="Calibri"/>
              </a:rP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3.1 · Veri Seti ve Önişleme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Yahoo Finance · 1 Ocak 2024 — 1 Mayıs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  <a:latin typeface="Calibri"/>
              </a:rPr>
              <a:t>USD/TRY  •  ARIMA vs LSTM  •  Sude Su (2220381037)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63040"/>
            <a:ext cx="65836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1F4E79"/>
                </a:solidFill>
                <a:latin typeface="Calibri"/>
              </a:rPr>
              <a:t>■  </a:t>
            </a:r>
            <a:r>
              <a:rPr sz="1600">
                <a:solidFill>
                  <a:srgbClr val="222222"/>
                </a:solidFill>
                <a:latin typeface="Calibri"/>
              </a:rPr>
              <a:t>Sembol: TRY=X · günlük kapanış · quantmod::getSymbols()</a:t>
            </a:r>
          </a:p>
          <a:p>
            <a:pPr algn="l">
              <a:lnSpc>
                <a:spcPct val="140000"/>
              </a:lnSpc>
            </a:pPr>
            <a:r>
              <a:rPr sz="1600" b="1">
                <a:solidFill>
                  <a:srgbClr val="1F4E79"/>
                </a:solidFill>
                <a:latin typeface="Calibri"/>
              </a:rPr>
              <a:t>■  </a:t>
            </a:r>
            <a:r>
              <a:rPr sz="1600">
                <a:solidFill>
                  <a:srgbClr val="222222"/>
                </a:solidFill>
                <a:latin typeface="Calibri"/>
              </a:rPr>
              <a:t>İndirme tarihi: 25 Aralık 2023 (ilk log getiri için gerekli).</a:t>
            </a:r>
          </a:p>
          <a:p>
            <a:pPr algn="l">
              <a:lnSpc>
                <a:spcPct val="140000"/>
              </a:lnSpc>
            </a:pPr>
            <a:r>
              <a:rPr sz="1600" b="1">
                <a:solidFill>
                  <a:srgbClr val="1F4E79"/>
                </a:solidFill>
                <a:latin typeface="Calibri"/>
              </a:rPr>
              <a:t>■  </a:t>
            </a:r>
            <a:r>
              <a:rPr sz="1600">
                <a:solidFill>
                  <a:srgbClr val="222222"/>
                </a:solidFill>
                <a:latin typeface="Calibri"/>
              </a:rPr>
              <a:t>Hafta sonu / resmi tatil günleri NA → na.approx() ile doldurma.</a:t>
            </a:r>
          </a:p>
          <a:p>
            <a:pPr algn="l">
              <a:lnSpc>
                <a:spcPct val="140000"/>
              </a:lnSpc>
            </a:pPr>
            <a:r>
              <a:rPr sz="1600" b="1">
                <a:solidFill>
                  <a:srgbClr val="1F4E79"/>
                </a:solidFill>
                <a:latin typeface="Calibri"/>
              </a:rPr>
              <a:t>■  </a:t>
            </a:r>
            <a:r>
              <a:rPr sz="1600">
                <a:solidFill>
                  <a:srgbClr val="222222"/>
                </a:solidFill>
                <a:latin typeface="Calibri"/>
              </a:rPr>
              <a:t>Başlangıç tarihi seçimi: Haziran 2023 para politikası rejimi sonrası.</a:t>
            </a:r>
          </a:p>
          <a:p>
            <a:pPr algn="l">
              <a:lnSpc>
                <a:spcPct val="140000"/>
              </a:lnSpc>
            </a:pPr>
            <a:r>
              <a:rPr sz="1600" b="1">
                <a:solidFill>
                  <a:srgbClr val="1F4E79"/>
                </a:solidFill>
                <a:latin typeface="Calibri"/>
              </a:rPr>
              <a:t>■  </a:t>
            </a:r>
            <a:r>
              <a:rPr sz="1600">
                <a:solidFill>
                  <a:srgbClr val="222222"/>
                </a:solidFill>
                <a:latin typeface="Calibri"/>
              </a:rPr>
              <a:t>Toplam 620 iş günü gözlem.</a:t>
            </a:r>
          </a:p>
          <a:p>
            <a:pPr algn="l">
              <a:lnSpc>
                <a:spcPct val="140000"/>
              </a:lnSpc>
            </a:pPr>
            <a:r>
              <a:rPr sz="1600" b="1">
                <a:solidFill>
                  <a:srgbClr val="1F4E79"/>
                </a:solidFill>
                <a:latin typeface="Calibri"/>
              </a:rPr>
              <a:t>■  </a:t>
            </a:r>
            <a:r>
              <a:rPr sz="1600">
                <a:solidFill>
                  <a:srgbClr val="222222"/>
                </a:solidFill>
                <a:latin typeface="Calibri"/>
              </a:rPr>
              <a:t>Kronolojik bölme: %80 eğitim (488 gün) · %20 test (132 gün).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554480"/>
            <a:ext cx="4480560" cy="4572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0" y="1554480"/>
            <a:ext cx="4480560" cy="50292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79" y="162763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19 Mart 2025 — Yapısal Şok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240280"/>
            <a:ext cx="42062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USD/TRY tek bir işlem gününde</a:t>
            </a:r>
          </a:p>
          <a:p>
            <a:pPr algn="l"/>
            <a:endParaRPr sz="14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   36,78  →  41,00+</a:t>
            </a:r>
          </a:p>
          <a:p>
            <a:pPr algn="l"/>
            <a:endParaRPr sz="14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seviyesine fırladı. Eğitim setinin</a:t>
            </a:r>
          </a:p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sonlarına denk gelen bu hareket</a:t>
            </a:r>
          </a:p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tek değişkenli modellerin yapısal</a:t>
            </a:r>
          </a:p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olarak yakalayamayacağı bir şok.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4937760"/>
            <a:ext cx="4114800" cy="960120"/>
          </a:xfrm>
          <a:prstGeom prst="rect">
            <a:avLst/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35240" y="5029200"/>
            <a:ext cx="3931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02A2A"/>
                </a:solidFill>
                <a:latin typeface="Calibri"/>
              </a:rPr>
              <a:t>Bu olay artık serilerinin</a:t>
            </a:r>
          </a:p>
          <a:p>
            <a:pPr algn="l"/>
            <a:r>
              <a:rPr sz="1200" b="1" i="0">
                <a:solidFill>
                  <a:srgbClr val="C02A2A"/>
                </a:solidFill>
                <a:latin typeface="Calibri"/>
              </a:rPr>
              <a:t>incelenmesinde belirleyici</a:t>
            </a:r>
          </a:p>
          <a:p>
            <a:pPr algn="l"/>
            <a:r>
              <a:rPr sz="1200" b="1" i="0">
                <a:solidFill>
                  <a:srgbClr val="C02A2A"/>
                </a:solidFill>
                <a:latin typeface="Calibri"/>
              </a:rPr>
              <a:t>bir referans noktası olur.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585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56677"/>
                </a:solidFill>
                <a:latin typeface="Calibri"/>
              </a:rP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3.2 · Logaritmik Getiri Dönüşümü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Neden ham fiyat değil de log getiri?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  <a:latin typeface="Calibri"/>
              </a:rPr>
              <a:t>USD/TRY  •  ARIMA vs LSTM  •  Sude Su (2220381037)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11338560" cy="16916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og_re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481328"/>
            <a:ext cx="5844904" cy="1325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" y="2743200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677"/>
                </a:solidFill>
                <a:latin typeface="Calibri"/>
              </a:rPr>
              <a:t>P_t : günlük kapanış fiyatı     ·     r_t : log getiri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291840"/>
            <a:ext cx="365760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36499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Durağanlık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794760"/>
            <a:ext cx="3657600" cy="237744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931920"/>
            <a:ext cx="33832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Çarpımsal süreçler logaritmayla</a:t>
            </a:r>
          </a:p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toplamsala dönüşür; finansal</a:t>
            </a:r>
          </a:p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seriler durağan davranış sergiler</a:t>
            </a:r>
          </a:p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ve ARIMA'nın temel varsayımı</a:t>
            </a:r>
          </a:p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sağlanır.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3291840"/>
            <a:ext cx="3657600" cy="50292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336499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Ölçek bağımsızlığı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3794760"/>
            <a:ext cx="3657600" cy="237744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3931920"/>
            <a:ext cx="33832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Getiriler yüzdesel ölçektedir;</a:t>
            </a:r>
          </a:p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farklı varlık ve dönemlerin</a:t>
            </a:r>
          </a:p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karşılaştırılabilir hale gelmesine</a:t>
            </a:r>
          </a:p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imkân tanır.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3291840"/>
            <a:ext cx="3657600" cy="50292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336499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Toplanabilirlik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2440" y="3794760"/>
            <a:ext cx="3657600" cy="237744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20" y="3931920"/>
            <a:ext cx="33832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Log getiriler zaman içinde</a:t>
            </a:r>
          </a:p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toplanabilir bir yapıya kavuşur:</a:t>
            </a:r>
          </a:p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VaR ve risk hesaplamalarında</a:t>
            </a:r>
          </a:p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standart girdi.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6126480"/>
            <a:ext cx="11338560" cy="50292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619963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B2C4A"/>
                </a:solidFill>
                <a:latin typeface="Calibri"/>
              </a:rPr>
              <a:t>ADF Durağanlık Testi: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619963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Test istatistiği = −7.62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619963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02A2A"/>
                </a:solidFill>
                <a:latin typeface="Calibri"/>
              </a:rPr>
              <a:t>p &lt; 0.01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6199632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→  H₀ reddedildi, seri durağan, d =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585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56677"/>
                </a:solidFill>
                <a:latin typeface="Calibri"/>
              </a:rP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3.3 · ARIMA — Model Tanımı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Doğrusal istatistiksel referans yapı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  <a:latin typeface="Calibri"/>
              </a:rPr>
              <a:t>USD/TRY  •  ARIMA vs LSTM  •  Sude Su (2220381037)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63040"/>
            <a:ext cx="676656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F4E79"/>
                </a:solidFill>
                <a:latin typeface="Calibri"/>
              </a:rPr>
              <a:t>■  </a:t>
            </a:r>
            <a:r>
              <a:rPr sz="1500">
                <a:solidFill>
                  <a:srgbClr val="222222"/>
                </a:solidFill>
                <a:latin typeface="Calibri"/>
              </a:rPr>
              <a:t>Otoregresif (AR) ve hareketli ortalama (MA) bileşenlerinin doğrusal kombinasyonu.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1F4E79"/>
                </a:solidFill>
                <a:latin typeface="Calibri"/>
              </a:rPr>
              <a:t>■  </a:t>
            </a:r>
            <a:r>
              <a:rPr sz="1500">
                <a:solidFill>
                  <a:srgbClr val="222222"/>
                </a:solidFill>
                <a:latin typeface="Calibri"/>
              </a:rPr>
              <a:t>Genel form: ARIMA (p, d, q) — bu çalışmada d = 0.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1F4E79"/>
                </a:solidFill>
                <a:latin typeface="Calibri"/>
              </a:rPr>
              <a:t>■  </a:t>
            </a:r>
            <a:r>
              <a:rPr sz="1500">
                <a:solidFill>
                  <a:srgbClr val="222222"/>
                </a:solidFill>
                <a:latin typeface="Calibri"/>
              </a:rPr>
              <a:t>Model seçimi: R · forecast paketi · auto.arima().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1F4E79"/>
                </a:solidFill>
                <a:latin typeface="Calibri"/>
              </a:rPr>
              <a:t>■  </a:t>
            </a:r>
            <a:r>
              <a:rPr sz="1500">
                <a:solidFill>
                  <a:srgbClr val="222222"/>
                </a:solidFill>
                <a:latin typeface="Calibri"/>
              </a:rPr>
              <a:t>Stepwise = FALSE, approximation = FALSE → geniş arama uzayı.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1F4E79"/>
                </a:solidFill>
                <a:latin typeface="Calibri"/>
              </a:rPr>
              <a:t>■  </a:t>
            </a:r>
            <a:r>
              <a:rPr sz="1500">
                <a:solidFill>
                  <a:srgbClr val="222222"/>
                </a:solidFill>
                <a:latin typeface="Calibri"/>
              </a:rPr>
              <a:t>Kriter: en düşük AIC değeri (uyum vs. karmaşıklık dengesi).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1F4E79"/>
                </a:solidFill>
                <a:latin typeface="Calibri"/>
              </a:rPr>
              <a:t>■  </a:t>
            </a:r>
            <a:r>
              <a:rPr sz="1500">
                <a:solidFill>
                  <a:srgbClr val="222222"/>
                </a:solidFill>
                <a:latin typeface="Calibri"/>
              </a:rPr>
              <a:t>Günlük frekans → mevsimsel bileşen yok.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554480"/>
            <a:ext cx="4389120" cy="4572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0" y="16916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2C4A"/>
                </a:solidFill>
                <a:latin typeface="Calibri"/>
              </a:rPr>
              <a:t>Operatör notasyonu</a:t>
            </a:r>
          </a:p>
        </p:txBody>
      </p:sp>
      <p:pic>
        <p:nvPicPr>
          <p:cNvPr id="12" name="Picture 11" descr="arima_oper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103120"/>
            <a:ext cx="4206240" cy="9541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89520" y="32004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  <a:latin typeface="Calibri"/>
              </a:rPr>
              <a:t>AR polinomu</a:t>
            </a:r>
          </a:p>
        </p:txBody>
      </p:sp>
      <p:pic>
        <p:nvPicPr>
          <p:cNvPr id="14" name="Picture 13" descr="arima_p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520440"/>
            <a:ext cx="4206240" cy="95415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89520" y="42519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  <a:latin typeface="Calibri"/>
              </a:rPr>
              <a:t>MA polinomu</a:t>
            </a:r>
          </a:p>
        </p:txBody>
      </p:sp>
      <p:pic>
        <p:nvPicPr>
          <p:cNvPr id="16" name="Picture 15" descr="arima_the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4572000"/>
            <a:ext cx="4206240" cy="95415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89520" y="548640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  <a:latin typeface="Calibri"/>
              </a:rPr>
              <a:t>B : geri-kaydırma  ·  ε_t : beyaz gürültü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56677"/>
                </a:solidFill>
                <a:latin typeface="Calibri"/>
              </a:rP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3.4 · LSTM Mimarisi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Kapı yapılarıyla uzun bellek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  <a:latin typeface="Calibri"/>
              </a:rPr>
              <a:t>USD/TRY  •  ARIMA vs LSTM  •  Sude Su (2220381037)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63040"/>
            <a:ext cx="5943600" cy="466344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2C4A"/>
                </a:solidFill>
                <a:latin typeface="Calibri"/>
              </a:rPr>
              <a:t>Eğitim Konfigürasyonu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148840"/>
            <a:ext cx="5577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56677"/>
                </a:solidFill>
                <a:latin typeface="Calibri"/>
              </a:rPr>
              <a:t>Look-back penceresi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945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0B2C4A"/>
                </a:solidFill>
                <a:latin typeface="Calibri"/>
              </a:rPr>
              <a:t>20 gün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606040"/>
            <a:ext cx="5577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6517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56677"/>
                </a:solidFill>
                <a:latin typeface="Calibri"/>
              </a:rPr>
              <a:t>Katman sayısı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6517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0B2C4A"/>
                </a:solidFill>
                <a:latin typeface="Calibri"/>
              </a:rPr>
              <a:t>2 LSTM katmanı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063240"/>
            <a:ext cx="5577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1089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56677"/>
                </a:solidFill>
                <a:latin typeface="Calibri"/>
              </a:rPr>
              <a:t>Katman başına birim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1089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0B2C4A"/>
                </a:solidFill>
                <a:latin typeface="Calibri"/>
              </a:rPr>
              <a:t>50 nöron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520440"/>
            <a:ext cx="5577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35661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56677"/>
                </a:solidFill>
                <a:latin typeface="Calibri"/>
              </a:rPr>
              <a:t>Dropout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5661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0B2C4A"/>
                </a:solidFill>
                <a:latin typeface="Calibri"/>
              </a:rPr>
              <a:t>0.2 (her katman sonrası)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977640"/>
            <a:ext cx="5577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0233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56677"/>
                </a:solidFill>
                <a:latin typeface="Calibri"/>
              </a:rPr>
              <a:t>Çıkış katmanı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0233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0B2C4A"/>
                </a:solidFill>
                <a:latin typeface="Calibri"/>
              </a:rPr>
              <a:t>1 nöronlu yoğun (Dense)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434840"/>
            <a:ext cx="5577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44805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56677"/>
                </a:solidFill>
                <a:latin typeface="Calibri"/>
              </a:rPr>
              <a:t>Kayıp / Optimizasyon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4805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0B2C4A"/>
                </a:solidFill>
                <a:latin typeface="Calibri"/>
              </a:rPr>
              <a:t>MSE  ·  Adam (lr = 0.001)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892040"/>
            <a:ext cx="5577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49377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56677"/>
                </a:solidFill>
                <a:latin typeface="Calibri"/>
              </a:rPr>
              <a:t>Epoch / Batch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9377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0B2C4A"/>
                </a:solidFill>
                <a:latin typeface="Calibri"/>
              </a:rPr>
              <a:t>50 epoch · batch = 16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5349240"/>
            <a:ext cx="5577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53949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56677"/>
                </a:solidFill>
                <a:latin typeface="Calibri"/>
              </a:rPr>
              <a:t>Doğrulama / Tohum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53949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0B2C4A"/>
                </a:solidFill>
                <a:latin typeface="Calibri"/>
              </a:rPr>
              <a:t>%10 val  ·  set.seed(42)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5806440"/>
            <a:ext cx="5577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58521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56677"/>
                </a:solidFill>
                <a:latin typeface="Calibri"/>
              </a:rPr>
              <a:t>Ölçekleme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58521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0B2C4A"/>
                </a:solidFill>
                <a:latin typeface="Calibri"/>
              </a:rPr>
              <a:t>Min-Max [0, 1] (eğitim sınırlarıyla)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150876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2C4A"/>
                </a:solidFill>
                <a:latin typeface="Calibri"/>
              </a:rPr>
              <a:t>Üç kapı mekanizması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1965960"/>
            <a:ext cx="5212080" cy="1051560"/>
          </a:xfrm>
          <a:prstGeom prst="rect">
            <a:avLst/>
          </a:prstGeom>
          <a:solidFill>
            <a:srgbClr val="F9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583680" y="1965960"/>
            <a:ext cx="164592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58000" y="2020824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Unutma kapısı  (f_t)</a:t>
            </a:r>
          </a:p>
        </p:txBody>
      </p:sp>
      <p:pic>
        <p:nvPicPr>
          <p:cNvPr id="42" name="Picture 41" descr="lstm_fo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011680"/>
            <a:ext cx="2834640" cy="64302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858000" y="242316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Önceki hücre durumundan ne kadar bilgi korunacağını belirler.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063240"/>
            <a:ext cx="5212080" cy="1051560"/>
          </a:xfrm>
          <a:prstGeom prst="rect">
            <a:avLst/>
          </a:prstGeom>
          <a:solidFill>
            <a:srgbClr val="F9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583680" y="3063240"/>
            <a:ext cx="164592" cy="10515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58000" y="3118104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02A2A"/>
                </a:solidFill>
                <a:latin typeface="Calibri"/>
              </a:rPr>
              <a:t>Giriş kapısı  (i_t)</a:t>
            </a:r>
          </a:p>
        </p:txBody>
      </p:sp>
      <p:pic>
        <p:nvPicPr>
          <p:cNvPr id="47" name="Picture 46" descr="lstm_in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3108960"/>
            <a:ext cx="2834640" cy="6430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858000" y="352044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Yeni bilginin hücre durumuna hangi oranda aktarılacağını kontrol eder.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0" y="4160520"/>
            <a:ext cx="5212080" cy="1051560"/>
          </a:xfrm>
          <a:prstGeom prst="rect">
            <a:avLst/>
          </a:prstGeom>
          <a:solidFill>
            <a:srgbClr val="F9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583680" y="4160520"/>
            <a:ext cx="164592" cy="105156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858000" y="4215384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2C4A"/>
                </a:solidFill>
                <a:latin typeface="Calibri"/>
              </a:rPr>
              <a:t>Çıkış kapısı  (o_t)</a:t>
            </a:r>
          </a:p>
        </p:txBody>
      </p:sp>
      <p:pic>
        <p:nvPicPr>
          <p:cNvPr id="52" name="Picture 51" descr="lstm_out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4206240"/>
            <a:ext cx="2834640" cy="6430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858000" y="461772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Güncel hücre durumunun gizli duruma yansıma oranını belirler.</a:t>
            </a:r>
          </a:p>
        </p:txBody>
      </p:sp>
      <p:pic>
        <p:nvPicPr>
          <p:cNvPr id="54" name="Picture 53" descr="lstm_ce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5349240"/>
            <a:ext cx="2468880" cy="560050"/>
          </a:xfrm>
          <a:prstGeom prst="rect">
            <a:avLst/>
          </a:prstGeom>
        </p:spPr>
      </p:pic>
      <p:pic>
        <p:nvPicPr>
          <p:cNvPr id="55" name="Picture 54" descr="lstm_hidd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5349240"/>
            <a:ext cx="2286000" cy="518565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118585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56677"/>
                </a:solidFill>
                <a:latin typeface="Calibri"/>
              </a:rP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3.5 · Performans Metrikleri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Ölçek-bağımlı ve ölçek-bağımsız değerlendirme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  <a:latin typeface="Calibri"/>
              </a:rPr>
              <a:t>USD/TRY  •  ARIMA vs LSTM  •  Sude Su (2220381037)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71600"/>
            <a:ext cx="5577840" cy="233172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557784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444752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MSE — Ortalama Karesel Hata</a:t>
            </a:r>
          </a:p>
        </p:txBody>
      </p:sp>
      <p:pic>
        <p:nvPicPr>
          <p:cNvPr id="12" name="Picture 11" descr="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011680"/>
            <a:ext cx="3291840" cy="74673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" y="320040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Büyük hataları ağır cezalandırır  ·  Ölçek-bağımlı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371600"/>
            <a:ext cx="5577840" cy="233172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371600"/>
            <a:ext cx="5577840" cy="50292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44752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RMSE — Kök Ortalama Karesel Hata</a:t>
            </a:r>
          </a:p>
        </p:txBody>
      </p:sp>
      <p:pic>
        <p:nvPicPr>
          <p:cNvPr id="17" name="Picture 16" descr="rm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011680"/>
            <a:ext cx="3474720" cy="78821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55080" y="320040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Orijinal ölçekte yorumlanır  ·  Ölçek-bağımlı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840480"/>
            <a:ext cx="5577840" cy="233172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1480" y="3840480"/>
            <a:ext cx="5577840" cy="50292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913632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MAE — Ortalama Mutlak Hata</a:t>
            </a:r>
          </a:p>
        </p:txBody>
      </p:sp>
      <p:pic>
        <p:nvPicPr>
          <p:cNvPr id="22" name="Picture 21" descr="m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4480560"/>
            <a:ext cx="3291840" cy="74673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" y="566928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Aykırı değerlere daha az duyarlı  ·  Doğrusal ortalama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840480"/>
            <a:ext cx="5577840" cy="2331720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2200" y="3840480"/>
            <a:ext cx="5577840" cy="502920"/>
          </a:xfrm>
          <a:prstGeom prst="rect">
            <a:avLst/>
          </a:prstGeom>
          <a:solidFill>
            <a:srgbClr val="6B3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3913632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MASE — Ortalama Mutlak Ölçeklenmiş Hata</a:t>
            </a:r>
          </a:p>
        </p:txBody>
      </p:sp>
      <p:pic>
        <p:nvPicPr>
          <p:cNvPr id="27" name="Picture 26" descr="m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4480560"/>
            <a:ext cx="4023360" cy="91267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355080" y="566928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Ölçek-bağımsız  ·  &lt; 1 → naive'den iyi,  &gt; 1 → kötü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585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56677"/>
                </a:solidFill>
                <a:latin typeface="Calibri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4 · Eğitim Seti — ARIMA Bir Adım İleri Uyum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Şekil 1 · 1 Ocak 2024 — 15 Kasım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  <a:latin typeface="Calibri"/>
              </a:rPr>
              <a:t>USD/TRY  •  ARIMA vs LSTM  •  Sude Su (2220381037)</a:t>
            </a:r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772400" cy="35354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5669280"/>
            <a:ext cx="7772400" cy="411480"/>
          </a:xfrm>
          <a:prstGeom prst="rect">
            <a:avLst/>
          </a:prstGeom>
          <a:solidFill>
            <a:srgbClr val="FFF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5733288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222222"/>
                </a:solidFill>
                <a:latin typeface="Calibri"/>
              </a:rPr>
              <a:t>Lejant:  'ARIMA' = tahmin serisi  ·  'GERÇEK' = gözlemlenen seri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463040"/>
            <a:ext cx="3200400" cy="4572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32520" y="16002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2C4A"/>
                </a:solidFill>
                <a:latin typeface="Calibri"/>
              </a:rPr>
              <a:t>Bulgu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057400"/>
            <a:ext cx="3017520" cy="25391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222222"/>
                </a:solidFill>
                <a:latin typeface="Calibri"/>
              </a:rPr>
              <a:t>• Eğitim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dönemindeki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trend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ve</a:t>
            </a:r>
            <a:endParaRPr sz="1100" b="0" i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222222"/>
                </a:solidFill>
                <a:latin typeface="Calibri"/>
              </a:rPr>
              <a:t>  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dalgalanmalar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yakın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uyumla</a:t>
            </a:r>
            <a:endParaRPr sz="1100" b="0" i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222222"/>
                </a:solidFill>
                <a:latin typeface="Calibri"/>
              </a:rPr>
              <a:t>  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temsil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ediliyor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.</a:t>
            </a:r>
          </a:p>
          <a:p>
            <a:pPr algn="l"/>
            <a:endParaRPr sz="1100" b="0" i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222222"/>
                </a:solidFill>
                <a:latin typeface="Calibri"/>
              </a:rPr>
              <a:t>• 19 Mart 2025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şoku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bir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gün</a:t>
            </a:r>
            <a:endParaRPr sz="1100" b="0" i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222222"/>
                </a:solidFill>
                <a:latin typeface="Calibri"/>
              </a:rPr>
              <a:t>  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gecikmeli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yakalanmış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.</a:t>
            </a:r>
          </a:p>
          <a:p>
            <a:pPr algn="l"/>
            <a:endParaRPr sz="1100" b="0" i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Çizgiler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üst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üste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görünüyor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:</a:t>
            </a:r>
          </a:p>
          <a:p>
            <a:pPr algn="l"/>
            <a:r>
              <a:rPr sz="1100" b="0" i="0" dirty="0">
                <a:solidFill>
                  <a:srgbClr val="222222"/>
                </a:solidFill>
                <a:latin typeface="Calibri"/>
              </a:rPr>
              <a:t>   one-step-ahead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yöntemi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her</a:t>
            </a:r>
          </a:p>
          <a:p>
            <a:pPr algn="l"/>
            <a:r>
              <a:rPr sz="1100" b="0" i="0" dirty="0">
                <a:solidFill>
                  <a:srgbClr val="222222"/>
                </a:solidFill>
                <a:latin typeface="Calibri"/>
              </a:rPr>
              <a:t>  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adımda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gerçek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geçmiş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değeri</a:t>
            </a:r>
            <a:endParaRPr sz="1100" b="0" i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222222"/>
                </a:solidFill>
                <a:latin typeface="Calibri"/>
              </a:rPr>
              <a:t>  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girdi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olarak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kullandığından</a:t>
            </a:r>
            <a:endParaRPr sz="1100" b="0" i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222222"/>
                </a:solidFill>
                <a:latin typeface="Calibri"/>
              </a:rPr>
              <a:t>  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görev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görece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kolaydır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—</a:t>
            </a:r>
          </a:p>
          <a:p>
            <a:pPr algn="l"/>
            <a:r>
              <a:rPr sz="1100" b="0" i="0" dirty="0">
                <a:solidFill>
                  <a:srgbClr val="222222"/>
                </a:solidFill>
                <a:latin typeface="Calibri"/>
              </a:rPr>
              <a:t>  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bu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görsel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uyum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modelin</a:t>
            </a:r>
            <a:endParaRPr sz="1100" b="0" i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222222"/>
                </a:solidFill>
                <a:latin typeface="Calibri"/>
              </a:rPr>
              <a:t>  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tahmin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gücünü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göstermez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,</a:t>
            </a:r>
          </a:p>
          <a:p>
            <a:pPr algn="l"/>
            <a:r>
              <a:rPr sz="1100" b="0" i="0" dirty="0">
                <a:solidFill>
                  <a:srgbClr val="222222"/>
                </a:solidFill>
                <a:latin typeface="Calibri"/>
              </a:rPr>
              <a:t>  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asıl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sınav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test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setinde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56677"/>
                </a:solidFill>
                <a:latin typeface="Calibri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4 · Eğitim Seti — LSTM Bir Adım İleri Uyum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Şekil 2 · 20 günlük pencere ile 468 eğitim örneği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  <a:latin typeface="Calibri"/>
              </a:rPr>
              <a:t>USD/TRY  •  ARIMA vs LSTM  •  Sude Su (2220381037)</a:t>
            </a: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772400" cy="35354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95360" y="1463040"/>
            <a:ext cx="3200400" cy="4572000"/>
          </a:xfrm>
          <a:prstGeom prst="rect">
            <a:avLst/>
          </a:prstGeom>
          <a:solidFill>
            <a:srgbClr val="FD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32520" y="16002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02A2A"/>
                </a:solidFill>
                <a:latin typeface="Calibri"/>
              </a:rPr>
              <a:t>Bulgu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057400"/>
            <a:ext cx="301752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• LSTM uyumu görsel olarak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   ARIMA ile neredeyse aynı.</a:t>
            </a:r>
          </a:p>
          <a:p>
            <a:pPr algn="l"/>
            <a:endParaRPr sz="12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• 19 Mart 2025 şokunu da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   benzer biçimde gecikmeli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   yakalıyor.</a:t>
            </a:r>
          </a:p>
          <a:p>
            <a:pPr algn="l"/>
            <a:endParaRPr sz="12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• Bu aşamada iki model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   arasında belirgin bir fark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   yok — fark test setinde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   ortaya çıkacak.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56677"/>
                </a:solidFill>
                <a:latin typeface="Calibri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4.1 · Artık Analizi — ADF Durağanlık Testi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Şekil 3 · Eğitim seti artıklarında trend kalıntısı testi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  <a:latin typeface="Calibri"/>
              </a:rPr>
              <a:t>USD/TRY  •  ARIMA vs LSTM  •  Sude Su (2220381037)</a:t>
            </a:r>
          </a:p>
        </p:txBody>
      </p:sp>
      <p:pic>
        <p:nvPicPr>
          <p:cNvPr id="9" name="Picture 8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132320" cy="389171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863840" y="1463040"/>
            <a:ext cx="4023360" cy="4572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0" y="1627632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2C4A"/>
                </a:solidFill>
                <a:latin typeface="Calibri"/>
              </a:rPr>
              <a:t>Test İstatistikleri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1945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56677"/>
                </a:solidFill>
                <a:latin typeface="Calibri"/>
              </a:rPr>
              <a:t>ARIMA artığı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1945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1F4E79"/>
                </a:solidFill>
                <a:latin typeface="Calibri"/>
              </a:rPr>
              <a:t>−7.084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6060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56677"/>
                </a:solidFill>
                <a:latin typeface="Calibri"/>
              </a:rPr>
              <a:t>LSTM artığı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6060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C02A2A"/>
                </a:solidFill>
                <a:latin typeface="Calibri"/>
              </a:rPr>
              <a:t>−7.353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0175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56677"/>
                </a:solidFill>
                <a:latin typeface="Calibri"/>
              </a:rPr>
              <a:t>Kritik (%1)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30175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556677"/>
                </a:solidFill>
                <a:latin typeface="Calibri"/>
              </a:rPr>
              <a:t>−3.43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4290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56677"/>
                </a:solidFill>
                <a:latin typeface="Calibri"/>
              </a:rPr>
              <a:t>p-değeri (her ikisi)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34290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B2C4A"/>
                </a:solidFill>
                <a:latin typeface="Calibri"/>
              </a:rPr>
              <a:t>&lt; 0.01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11480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Sonuç:</a:t>
            </a:r>
          </a:p>
          <a:p>
            <a:pPr algn="l"/>
            <a:endParaRPr sz="13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Her iki model de eğitim setindeki</a:t>
            </a:r>
          </a:p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sistematik trend bileşenini</a:t>
            </a:r>
          </a:p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başarıyla yakalamıştır.</a:t>
            </a:r>
          </a:p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Artıklarda çözülmemiş bir trend</a:t>
            </a:r>
          </a:p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kalıntısı bulunmamaktadır.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85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56677"/>
                </a:solidFill>
                <a:latin typeface="Calibri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4.2 · ARIMA Artıkları — Aykırı Gözlem Dağılımı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Şekil 4 · Fiyat ölçeği · ±2 standart sapma bandı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  <a:latin typeface="Calibri"/>
              </a:rPr>
              <a:t>USD/TRY  •  ARIMA vs LSTM  •  Sude Su (2220381037)</a:t>
            </a:r>
          </a:p>
        </p:txBody>
      </p:sp>
      <p:pic>
        <p:nvPicPr>
          <p:cNvPr id="9" name="Picture 8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863840" cy="393570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95360" y="1463040"/>
            <a:ext cx="3200400" cy="4572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32520" y="162763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2C4A"/>
                </a:solidFill>
                <a:latin typeface="Calibri"/>
              </a:rPr>
              <a:t>Gözlem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103120"/>
            <a:ext cx="301752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222222"/>
                </a:solidFill>
                <a:latin typeface="Calibri"/>
              </a:rPr>
              <a:t>• Artıklar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sıfır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ortalama</a:t>
            </a:r>
            <a:endParaRPr sz="1100" b="0" i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222222"/>
                </a:solidFill>
                <a:latin typeface="Calibri"/>
              </a:rPr>
              <a:t>  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etrafında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yoğunlaşıyor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.</a:t>
            </a:r>
          </a:p>
          <a:p>
            <a:pPr algn="l"/>
            <a:endParaRPr sz="1100" b="0" i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222222"/>
                </a:solidFill>
                <a:latin typeface="Calibri"/>
              </a:rPr>
              <a:t>• ±2σ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bandı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: 0.1924 TL.</a:t>
            </a:r>
          </a:p>
          <a:p>
            <a:pPr algn="l"/>
            <a:r>
              <a:rPr sz="1100" b="0" i="0" dirty="0">
                <a:solidFill>
                  <a:srgbClr val="222222"/>
                </a:solidFill>
                <a:latin typeface="Calibri"/>
              </a:rPr>
              <a:t>   Normal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dağılım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altında</a:t>
            </a:r>
            <a:endParaRPr sz="1100" b="0" i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222222"/>
                </a:solidFill>
                <a:latin typeface="Calibri"/>
              </a:rPr>
              <a:t>  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gözlemlerin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~%95'i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bu</a:t>
            </a:r>
            <a:endParaRPr sz="1100" b="0" i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222222"/>
                </a:solidFill>
                <a:latin typeface="Calibri"/>
              </a:rPr>
              <a:t>  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bandın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içinde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kalmalı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—</a:t>
            </a:r>
          </a:p>
          <a:p>
            <a:pPr algn="l"/>
            <a:r>
              <a:rPr sz="1100" b="0" i="0" dirty="0">
                <a:solidFill>
                  <a:srgbClr val="222222"/>
                </a:solidFill>
                <a:latin typeface="Calibri"/>
              </a:rPr>
              <a:t>  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dışındakiler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aykırı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kabul</a:t>
            </a:r>
            <a:endParaRPr sz="1100" b="0" i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222222"/>
                </a:solidFill>
                <a:latin typeface="Calibri"/>
              </a:rPr>
              <a:t>  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edilir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(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klasik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konvansiyon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).</a:t>
            </a:r>
          </a:p>
          <a:p>
            <a:pPr algn="l"/>
            <a:endParaRPr sz="1100" b="0" i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222222"/>
                </a:solidFill>
                <a:latin typeface="Calibri"/>
              </a:rPr>
              <a:t>• 20 Mart 2025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sapması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:</a:t>
            </a:r>
          </a:p>
          <a:p>
            <a:pPr algn="l"/>
            <a:r>
              <a:rPr sz="1100" b="0" i="0" dirty="0">
                <a:solidFill>
                  <a:srgbClr val="222222"/>
                </a:solidFill>
                <a:latin typeface="Calibri"/>
              </a:rPr>
              <a:t>   ~1.4 TL →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şoka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karşılık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.</a:t>
            </a:r>
          </a:p>
          <a:p>
            <a:pPr algn="l"/>
            <a:endParaRPr sz="1100" b="0" i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222222"/>
                </a:solidFill>
                <a:latin typeface="Calibri"/>
              </a:rPr>
              <a:t>• Tek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değişkenli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bir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model</a:t>
            </a:r>
          </a:p>
          <a:p>
            <a:pPr algn="l"/>
            <a:r>
              <a:rPr sz="1100" b="0" i="0" dirty="0">
                <a:solidFill>
                  <a:srgbClr val="222222"/>
                </a:solidFill>
                <a:latin typeface="Calibri"/>
              </a:rPr>
              <a:t>  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için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bu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büyüklükte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bir</a:t>
            </a:r>
            <a:endParaRPr sz="1100" b="0" i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222222"/>
                </a:solidFill>
                <a:latin typeface="Calibri"/>
              </a:rPr>
              <a:t>  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hareketin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tek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adımda</a:t>
            </a:r>
            <a:endParaRPr sz="1100" b="0" i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222222"/>
                </a:solidFill>
                <a:latin typeface="Calibri"/>
              </a:rPr>
              <a:t>  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öngörülmesi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yapısal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olarak</a:t>
            </a:r>
            <a:endParaRPr sz="1100" b="0" i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222222"/>
                </a:solidFill>
                <a:latin typeface="Calibri"/>
              </a:rPr>
              <a:t>  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mümkün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değil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56677"/>
                </a:solidFill>
                <a:latin typeface="Calibri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4.2 · LSTM Artıkları — Aykırı Gözlem Dağılımı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Şekil 5 · Fiyat ölçeği · ±2 standart sapma bandı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  <a:latin typeface="Calibri"/>
              </a:rPr>
              <a:t>USD/TRY  •  ARIMA vs LSTM  •  Sude Su (2220381037)</a:t>
            </a:r>
          </a:p>
        </p:txBody>
      </p:sp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863840" cy="393570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95360" y="1463040"/>
            <a:ext cx="3200400" cy="4572000"/>
          </a:xfrm>
          <a:prstGeom prst="rect">
            <a:avLst/>
          </a:prstGeom>
          <a:solidFill>
            <a:srgbClr val="FD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32520" y="162763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02A2A"/>
                </a:solidFill>
                <a:latin typeface="Calibri"/>
              </a:rPr>
              <a:t>Gözlem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103120"/>
            <a:ext cx="301752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• ±2σ bandı: 0.1912 TL.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   (ARIMA ile neredeyse aynı)</a:t>
            </a:r>
          </a:p>
          <a:p>
            <a:pPr algn="l"/>
            <a:endParaRPr sz="12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• 20 Mart 2025 sapması: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   ~1.3 TL — biraz daha düşük.</a:t>
            </a:r>
          </a:p>
          <a:p>
            <a:pPr algn="l"/>
            <a:endParaRPr sz="12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• Ljung-Box (20 gecikme):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   Q = 25.49, p = 0.18.</a:t>
            </a:r>
          </a:p>
          <a:p>
            <a:pPr algn="l"/>
            <a:endParaRPr sz="12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• Otokorelasyon yok →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   sistematik bağımlılık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   yapısı başarıyla yakalanmış.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56677"/>
                </a:solidFill>
                <a:latin typeface="Calibri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5 · Test Seti — Çok Adımlı Özyinelemeli Tahmin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Şekil 6 · 132 gün · 13 Kasım 2025 — 1 Mayıs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  <a:latin typeface="Calibri"/>
              </a:rPr>
              <a:t>USD/TRY  •  ARIMA vs LSTM  •  Sude Su (2220381037)</a:t>
            </a:r>
          </a:p>
        </p:txBody>
      </p:sp>
      <p:pic>
        <p:nvPicPr>
          <p:cNvPr id="9" name="Picture 8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772400" cy="466703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5669280"/>
            <a:ext cx="7772400" cy="502920"/>
          </a:xfrm>
          <a:prstGeom prst="rect">
            <a:avLst/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5733288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02A2A"/>
                </a:solidFill>
                <a:latin typeface="Calibri"/>
              </a:rPr>
              <a:t>Neden eğitimde uyum yüksekti, testte fark açıldı?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43600"/>
            <a:ext cx="7589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Eğitim: one-step-ahead (her adımda gerçek geçmiş girdi)  →  Test: multi-step recursive (model kendi tahminini girdi olarak kullanır, hata birikir)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463040"/>
            <a:ext cx="3383280" cy="466344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41080" y="162763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2C4A"/>
                </a:solidFill>
                <a:latin typeface="Calibri"/>
              </a:rPr>
              <a:t>İki Yönlü Sapma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1945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ARIMA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560320"/>
            <a:ext cx="3200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>
                <a:solidFill>
                  <a:srgbClr val="222222"/>
                </a:solidFill>
                <a:latin typeface="Calibri"/>
              </a:rPr>
              <a:t>Doğrusal trendi ekstrapole eder; test dönemi boyunca gerçek değerlerin üzerinde seyreder.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40233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02A2A"/>
                </a:solidFill>
                <a:latin typeface="Calibri"/>
              </a:rPr>
              <a:t>LSTM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4389120"/>
            <a:ext cx="3200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>
                <a:solidFill>
                  <a:srgbClr val="222222"/>
                </a:solidFill>
                <a:latin typeface="Calibri"/>
              </a:rPr>
              <a:t>Yönü doğru yakalar ama yükseliş hızını olduğundan yumuşak öngörür; gerçek serinin altında kalır.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585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56677"/>
                </a:solidFill>
                <a:latin typeface="Calibri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5.1 · ARIMA Tahmin Hatası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Şekil 7 · Doğrusal ekstrapolasyonun bedeli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  <a:latin typeface="Calibri"/>
              </a:rPr>
              <a:t>USD/TRY  •  ARIMA vs LSTM  •  Sude Su (2220381037)</a:t>
            </a:r>
          </a:p>
        </p:txBody>
      </p:sp>
      <p:pic>
        <p:nvPicPr>
          <p:cNvPr id="9" name="Picture 8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863840" cy="3577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95360" y="1463040"/>
            <a:ext cx="3200400" cy="4572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32520" y="162763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2C4A"/>
                </a:solidFill>
                <a:latin typeface="Calibri"/>
              </a:rPr>
              <a:t>Hata Dinamiği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103120"/>
            <a:ext cx="301752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• Test başlangıcında hata ≈ 0</a:t>
            </a:r>
          </a:p>
          <a:p>
            <a:pPr algn="l"/>
            <a:endParaRPr sz="11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• Zamanla monotonik biçimde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   negatife genişliyor.</a:t>
            </a:r>
          </a:p>
          <a:p>
            <a:pPr algn="l"/>
            <a:endParaRPr sz="11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• Dönem sonunda ≈ −1.1 TL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   sistematik üst-tahmin.</a:t>
            </a:r>
          </a:p>
          <a:p>
            <a:pPr algn="l"/>
            <a:endParaRPr sz="11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• Sebep: doğrusal trend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   bileşeninin uzun ufuklu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   özyinelemeli tahminde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   gerçek dinamiklerden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   uzaklaşması.</a:t>
            </a:r>
          </a:p>
          <a:p>
            <a:pPr algn="l"/>
            <a:endParaRPr sz="11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• Bu, parametrik modellerin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   bilinen bir kısıtıdır.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56677"/>
                </a:solidFill>
                <a:latin typeface="Calibri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5.2 · LSTM Tahmin Hatası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Şekil 8 · Yumuşak yükseliş eğilimi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  <a:latin typeface="Calibri"/>
              </a:rPr>
              <a:t>USD/TRY  •  ARIMA vs LSTM  •  Sude Su (2220381037)</a:t>
            </a:r>
          </a:p>
        </p:txBody>
      </p:sp>
      <p:pic>
        <p:nvPicPr>
          <p:cNvPr id="9" name="Picture 8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863840" cy="3577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95360" y="1463040"/>
            <a:ext cx="3200400" cy="4572000"/>
          </a:xfrm>
          <a:prstGeom prst="rect">
            <a:avLst/>
          </a:prstGeom>
          <a:solidFill>
            <a:srgbClr val="FD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32520" y="162763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02A2A"/>
                </a:solidFill>
                <a:latin typeface="Calibri"/>
              </a:rPr>
              <a:t>Hata Dinamiği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103120"/>
            <a:ext cx="301752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• İlk haftalar: hata sıfır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   etrafında salınıyor.</a:t>
            </a:r>
          </a:p>
          <a:p>
            <a:pPr algn="l"/>
            <a:endParaRPr sz="12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• Ocak 2026 sonrası pozitife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   doğru kayma.</a:t>
            </a:r>
          </a:p>
          <a:p>
            <a:pPr algn="l"/>
            <a:endParaRPr sz="12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• Dönem sonu: ≈ +0.6 TL</a:t>
            </a:r>
          </a:p>
          <a:p>
            <a:pPr algn="l"/>
            <a:endParaRPr sz="12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• Maksimum mutlak hata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   ARIMA'nın yaklaşık yarısı.</a:t>
            </a:r>
          </a:p>
          <a:p>
            <a:pPr algn="l"/>
            <a:endParaRPr sz="12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• LSTM yönü doğru ama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   yükseliş hızını az tahmin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   ediyor.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56677"/>
                </a:solidFill>
                <a:latin typeface="Calibri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5.3 · Test Seti Performans Karşılaştırması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Şekil 9 · Dört metrik · Fiyat ölçeği (TL)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  <a:latin typeface="Calibri"/>
              </a:rPr>
              <a:t>USD/TRY  •  ARIMA vs LSTM  •  Sude Su (2220381037)</a:t>
            </a:r>
          </a:p>
        </p:txBody>
      </p:sp>
      <p:pic>
        <p:nvPicPr>
          <p:cNvPr id="9" name="Picture 8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949440" cy="461537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589520" y="1463040"/>
            <a:ext cx="4297680" cy="4572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26679" y="162763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2C4A"/>
                </a:solidFill>
                <a:latin typeface="Calibri"/>
              </a:rPr>
              <a:t>Sayılarla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10312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556677"/>
                </a:solidFill>
                <a:latin typeface="Calibri"/>
              </a:rPr>
              <a:t>ARIMA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21031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556677"/>
                </a:solidFill>
                <a:latin typeface="Calibri"/>
              </a:rPr>
              <a:t>LSTM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2103120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556677"/>
                </a:solidFill>
                <a:latin typeface="Calibri"/>
              </a:rPr>
              <a:t>kat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51460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Calibri"/>
              </a:rPr>
              <a:t>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5146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1F4E79"/>
                </a:solidFill>
                <a:latin typeface="Calibri"/>
              </a:rPr>
              <a:t>0.5143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25146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C02A2A"/>
                </a:solidFill>
                <a:latin typeface="Calibri"/>
              </a:rPr>
              <a:t>0.0533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2514600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56677"/>
                </a:solidFill>
                <a:latin typeface="Calibri"/>
              </a:rPr>
              <a:t>~10×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292608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Calibri"/>
              </a:rPr>
              <a:t>RMSE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92608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1F4E79"/>
                </a:solidFill>
                <a:latin typeface="Calibri"/>
              </a:rPr>
              <a:t>0.7171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29260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C02A2A"/>
                </a:solidFill>
                <a:latin typeface="Calibri"/>
              </a:rPr>
              <a:t>0.2308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2926080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56677"/>
                </a:solidFill>
                <a:latin typeface="Calibri"/>
              </a:rPr>
              <a:t>~3.1×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333756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Calibri"/>
              </a:rPr>
              <a:t>MAE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33756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1F4E79"/>
                </a:solidFill>
                <a:latin typeface="Calibri"/>
              </a:rPr>
              <a:t>0.6418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33375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C02A2A"/>
                </a:solidFill>
                <a:latin typeface="Calibri"/>
              </a:rPr>
              <a:t>0.1725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7080" y="3337560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56677"/>
                </a:solidFill>
                <a:latin typeface="Calibri"/>
              </a:rPr>
              <a:t>~3.7×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3749039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Calibri"/>
              </a:rPr>
              <a:t>MASE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749039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1F4E79"/>
                </a:solidFill>
                <a:latin typeface="Calibri"/>
              </a:rPr>
              <a:t>18.7446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749039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C02A2A"/>
                </a:solidFill>
                <a:latin typeface="Calibri"/>
              </a:rPr>
              <a:t>5.0393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27080" y="3749039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56677"/>
                </a:solidFill>
                <a:latin typeface="Calibri"/>
              </a:rPr>
              <a:t>~3.7×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79" y="4297680"/>
            <a:ext cx="4023360" cy="1554480"/>
          </a:xfrm>
          <a:prstGeom prst="rect">
            <a:avLst/>
          </a:prstGeom>
          <a:solidFill>
            <a:srgbClr val="FFF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0" y="4389120"/>
            <a:ext cx="3840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LSTM dört metrikte de açık üstün.</a:t>
            </a:r>
          </a:p>
          <a:p>
            <a:pPr algn="l"/>
            <a:endParaRPr sz="12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Ancak her iki MASE &gt; 1 →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finansal getirilerin tahmin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edilebilirlik sınırlarına ait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yapısal bir kısıt.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8585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56677"/>
                </a:solidFill>
                <a:latin typeface="Calibri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5.4 · Geleceğe Dönük Projeksiyon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Şekil 10 · Eğitim + Test + Haziran 2026 sonu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  <a:latin typeface="Calibri"/>
              </a:rPr>
              <a:t>USD/TRY  •  ARIMA vs LSTM  •  Sude Su (2220381037)</a:t>
            </a:r>
          </a:p>
        </p:txBody>
      </p:sp>
      <p:pic>
        <p:nvPicPr>
          <p:cNvPr id="9" name="Picture 8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955279" cy="477684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86800" y="1371600"/>
            <a:ext cx="3200400" cy="475488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23960" y="150876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B2C4A"/>
                </a:solidFill>
                <a:latin typeface="Calibri"/>
              </a:rPr>
              <a:t>Test Sapması  →  Gelecek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011680"/>
            <a:ext cx="301752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Test setindeki sapma yapısı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gelecek döneme de aktarılıyor:</a:t>
            </a:r>
          </a:p>
          <a:p>
            <a:pPr algn="l"/>
            <a:endParaRPr sz="11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• ARIMA: doğrusal trend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   bileşeni nedeniyle yukarı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   yönlü biasını sürdürüyor.</a:t>
            </a:r>
          </a:p>
          <a:p>
            <a:pPr algn="l"/>
            <a:endParaRPr sz="11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• LSTM: ölçülü bir yükseliş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   trendiyle gerçeğe yakın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   bir noktadan ilerliyor.</a:t>
            </a:r>
          </a:p>
          <a:p>
            <a:pPr algn="l"/>
            <a:endParaRPr sz="11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• ARIMA için ek olarak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   %80 ve %95 güven aralıkları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   hesaplandı; aralıklar zamanla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   genişliyor (hata birikimi).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56677"/>
                </a:solidFill>
                <a:latin typeface="Calibri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5.5 · Referans Tarih — 1 Haziran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Şekil 11 · Nokta tahminler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  <a:latin typeface="Calibri"/>
              </a:rPr>
              <a:t>USD/TRY  •  ARIMA vs LSTM  •  Sude Su (2220381037)</a:t>
            </a:r>
          </a:p>
        </p:txBody>
      </p:sp>
      <p:pic>
        <p:nvPicPr>
          <p:cNvPr id="9" name="Picture 8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955279" cy="477684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86800" y="1371600"/>
            <a:ext cx="3200400" cy="4937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23960" y="15544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556677"/>
                </a:solidFill>
                <a:latin typeface="Calibri"/>
              </a:rPr>
              <a:t>1 Haziran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19659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ARIMA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233172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1F4E79"/>
                </a:solidFill>
                <a:latin typeface="Calibri"/>
              </a:rPr>
              <a:t>46.95 TL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35204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02A2A"/>
                </a:solidFill>
                <a:latin typeface="Calibri"/>
              </a:rPr>
              <a:t>LSTM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388620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C02A2A"/>
                </a:solidFill>
                <a:latin typeface="Calibri"/>
              </a:rPr>
              <a:t>45.03 TL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23960" y="5120640"/>
            <a:ext cx="2926080" cy="1005840"/>
          </a:xfrm>
          <a:prstGeom prst="rect">
            <a:avLst/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0" y="521208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İki model arasındaki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~1.9 TL fark, ARIMA'nın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sistematik üst-tahmin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eğiliminden kaynaklanıyor.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56677"/>
                </a:solidFill>
                <a:latin typeface="Calibri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6 · Sonuçlar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Çalışmanın temel bulguları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  <a:latin typeface="Calibri"/>
              </a:rPr>
              <a:t>USD/TRY  •  ARIMA vs LSTM  •  Sude Su (2220381037)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64592" cy="8229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2C4A"/>
                </a:solidFill>
                <a:latin typeface="Calibri"/>
              </a:rPr>
              <a:t>LSTM, dört metrikte de ARIMA'yı geçti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745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MAE  ≈  3.7×   ·   MSE  ≈  10×   ·   daha düşük hata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23160"/>
            <a:ext cx="164592" cy="8229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468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2C4A"/>
                </a:solidFill>
                <a:latin typeface="Calibri"/>
              </a:rPr>
              <a:t>ARIMA sistematik üst-tahmin yaptı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34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Doğrusal trendi ekstrapole etti; dönem sonunda ~1.1 TL fazla tahmin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83280"/>
            <a:ext cx="164592" cy="8229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2C4A"/>
                </a:solidFill>
                <a:latin typeface="Calibri"/>
              </a:rPr>
              <a:t>LSTM yönü doğru yakaladı, ivmeyi yumuşattı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94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Test sonunda gerçek serinin altında ~0.6 TL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43400"/>
            <a:ext cx="164592" cy="8229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3891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2C4A"/>
                </a:solidFill>
                <a:latin typeface="Calibri"/>
              </a:rPr>
              <a:t>Hiçbir model naive tahmini geçemedi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54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Her iki MASE &gt; 1 → finansal getirilerin tahmin edilebilirlik sınırı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03520"/>
            <a:ext cx="164592" cy="8229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53492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2C4A"/>
                </a:solidFill>
                <a:latin typeface="Calibri"/>
              </a:rPr>
              <a:t>Bulgu, derin öğrenmenin avantajını destekliyor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715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Doğrusal olmayan, gürültülü ve uzun bellekli serilerde LSTM'in göreli üstünlüğü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56677"/>
                </a:solidFill>
                <a:latin typeface="Calibri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Sınırlılıklar ve Gelecek Çalışmalar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Çalışmanın kapsamı ve sonrası için açık yönler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  <a:latin typeface="Calibri"/>
              </a:rPr>
              <a:t>USD/TRY  •  ARIMA vs LSTM  •  Sude Su (2220381037)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63040"/>
            <a:ext cx="5577840" cy="54864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Sınırlılıklar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94560"/>
            <a:ext cx="5486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0B2C4A"/>
                </a:solidFill>
                <a:latin typeface="Calibri"/>
              </a:rPr>
              <a:t>■  </a:t>
            </a:r>
            <a:r>
              <a:rPr sz="1400">
                <a:solidFill>
                  <a:srgbClr val="222222"/>
                </a:solidFill>
                <a:latin typeface="Calibri"/>
              </a:rPr>
              <a:t>Tek değişkenli yapı: yalnızca geçmiş fiyat verisi.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0B2C4A"/>
                </a:solidFill>
                <a:latin typeface="Calibri"/>
              </a:rPr>
              <a:t>■  </a:t>
            </a:r>
            <a:r>
              <a:rPr sz="1400">
                <a:solidFill>
                  <a:srgbClr val="222222"/>
                </a:solidFill>
                <a:latin typeface="Calibri"/>
              </a:rPr>
              <a:t>Faiz, enflasyon, jeopolitik şoklar dışsal kaldı.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0B2C4A"/>
                </a:solidFill>
                <a:latin typeface="Calibri"/>
              </a:rPr>
              <a:t>■  </a:t>
            </a:r>
            <a:r>
              <a:rPr sz="1400">
                <a:solidFill>
                  <a:srgbClr val="222222"/>
                </a:solidFill>
                <a:latin typeface="Calibri"/>
              </a:rPr>
              <a:t>19 Mart 2025 gibi olağanüstü olaylar yapısal olarak modellenemez.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0B2C4A"/>
                </a:solidFill>
                <a:latin typeface="Calibri"/>
              </a:rPr>
              <a:t>■  </a:t>
            </a:r>
            <a:r>
              <a:rPr sz="1400">
                <a:solidFill>
                  <a:srgbClr val="222222"/>
                </a:solidFill>
                <a:latin typeface="Calibri"/>
              </a:rPr>
              <a:t>LSTM hiperparametreleri sabit; sistematik optimizasyon yok.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0B2C4A"/>
                </a:solidFill>
                <a:latin typeface="Calibri"/>
              </a:rPr>
              <a:t>■  </a:t>
            </a:r>
            <a:r>
              <a:rPr sz="1400">
                <a:solidFill>
                  <a:srgbClr val="222222"/>
                </a:solidFill>
                <a:latin typeface="Calibri"/>
              </a:rPr>
              <a:t>Çok adımlı özyinelemeli tahminde hatalar birikir.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5486400" cy="54864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5544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Gelecek Yönler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9456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C02A2A"/>
                </a:solidFill>
                <a:latin typeface="Calibri"/>
              </a:rPr>
              <a:t>■  </a:t>
            </a:r>
            <a:r>
              <a:rPr sz="1400">
                <a:solidFill>
                  <a:srgbClr val="222222"/>
                </a:solidFill>
                <a:latin typeface="Calibri"/>
              </a:rPr>
              <a:t>Çok değişkenli yapı: TCMB politika faizi, TÜFE, VIX.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C02A2A"/>
                </a:solidFill>
                <a:latin typeface="Calibri"/>
              </a:rPr>
              <a:t>■  </a:t>
            </a:r>
            <a:r>
              <a:rPr sz="1400">
                <a:solidFill>
                  <a:srgbClr val="222222"/>
                </a:solidFill>
                <a:latin typeface="Calibri"/>
              </a:rPr>
              <a:t>Hibrit mimariler: ARIMA-LSTM, CNN-LSTM.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C02A2A"/>
                </a:solidFill>
                <a:latin typeface="Calibri"/>
              </a:rPr>
              <a:t>■  </a:t>
            </a:r>
            <a:r>
              <a:rPr sz="1400">
                <a:solidFill>
                  <a:srgbClr val="222222"/>
                </a:solidFill>
                <a:latin typeface="Calibri"/>
              </a:rPr>
              <a:t>BiLSTM ile çift yönlü bilgi akışı denemesi.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C02A2A"/>
                </a:solidFill>
                <a:latin typeface="Calibri"/>
              </a:rPr>
              <a:t>■  </a:t>
            </a:r>
            <a:r>
              <a:rPr sz="1400">
                <a:solidFill>
                  <a:srgbClr val="222222"/>
                </a:solidFill>
                <a:latin typeface="Calibri"/>
              </a:rPr>
              <a:t>Hiperparametre optimizasyonu (Bayesian / grid).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C02A2A"/>
                </a:solidFill>
                <a:latin typeface="Calibri"/>
              </a:rPr>
              <a:t>■  </a:t>
            </a:r>
            <a:r>
              <a:rPr sz="1400">
                <a:solidFill>
                  <a:srgbClr val="222222"/>
                </a:solidFill>
                <a:latin typeface="Calibri"/>
              </a:rPr>
              <a:t>Risk yönetiminde model topluluğu (ensemble) yaklaşımı.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56677"/>
                </a:solidFill>
                <a:latin typeface="Calibri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Kaynaklar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Çalışmanın temel referansları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  <a:latin typeface="Calibri"/>
              </a:rPr>
              <a:t>USD/TRY  •  ARIMA vs LSTM  •  Sude Su (2220381037)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63040"/>
            <a:ext cx="5669280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[1]  Box, G. E. P. &amp; Pierce, D. A. (1970). Distribution of residual autocorrelations in ARIMA models. J. Am. Stat. Assoc.</a:t>
            </a:r>
          </a:p>
          <a:p>
            <a:pPr algn="l"/>
            <a:endParaRPr sz="11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[2]  Hochreiter, S. &amp; Schmidhuber, J. (1997). Long Short-Term Memory. Neural Computation, 9(8).</a:t>
            </a:r>
          </a:p>
          <a:p>
            <a:pPr algn="l"/>
            <a:endParaRPr sz="11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[4]  Tsay, R. S. (2010). Analysis of Financial Time Series. Wiley.</a:t>
            </a:r>
          </a:p>
          <a:p>
            <a:pPr algn="l"/>
            <a:endParaRPr sz="11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[9]  Zhang, G. P. (2003). Hybrid ARIMA and neural network model. Neurocomputing, 50.</a:t>
            </a:r>
          </a:p>
          <a:p>
            <a:pPr algn="l"/>
            <a:endParaRPr sz="11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[12] Ariyo, A. A. et al. (2014). Stock price prediction using ARIMA. UKSim-AMSS ICCMS.</a:t>
            </a:r>
          </a:p>
          <a:p>
            <a:pPr algn="l"/>
            <a:endParaRPr sz="11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[14] Yıldıran, C. U. &amp; Fettahoğlu, A. (2017). Forecasting USDTRY rate by ARIMA. Cogent Econ. Finance.</a:t>
            </a:r>
          </a:p>
          <a:p>
            <a:pPr algn="l"/>
            <a:endParaRPr sz="11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[17] Siami-Namini, S. et al. (2018). Comparison of ARIMA and LSTM in forecasting. IEEE ICMLA.</a:t>
            </a:r>
          </a:p>
          <a:p>
            <a:pPr algn="l"/>
            <a:endParaRPr sz="11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[18] Tanışman, S. et al. (2022). LSTM ve ARIMA ile Bitcoin fiyat tahmini. Eur. J. Sci. Technol.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463040"/>
            <a:ext cx="5669280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[20] Kırelli, Y. (2024). Comparative analysis of LSTM and ARIMA. Black Sea J. Eng. Sci.</a:t>
            </a:r>
          </a:p>
          <a:p>
            <a:pPr algn="l"/>
            <a:endParaRPr sz="11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[21] Ji, L. et al. (2019). ARIMA-CNN-LSTM for carbon futures. Procedia Comput. Sci.</a:t>
            </a:r>
          </a:p>
          <a:p>
            <a:pPr algn="l"/>
            <a:endParaRPr sz="11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[24] Kashif, K. &amp; Ślepaczuk, R. (2024). LSTM-ARIMA hybrid for algorithmic strategies. arXiv.</a:t>
            </a:r>
          </a:p>
          <a:p>
            <a:pPr algn="l"/>
            <a:endParaRPr sz="11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[33] Akaike, H. (1974). A new look at statistical model identification. IEEE Trans. Autom. Control.</a:t>
            </a:r>
          </a:p>
          <a:p>
            <a:pPr algn="l"/>
            <a:endParaRPr sz="11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[34] Hyndman, R. J. &amp; Khandakar, Y. (2008). Automatic time series forecasting: forecast pkg.</a:t>
            </a:r>
          </a:p>
          <a:p>
            <a:pPr algn="l"/>
            <a:endParaRPr sz="11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[40] Hyndman, R. J. &amp; Koehler, A. B. (2006). Measures of forecast accuracy. Int. J. Forecast.</a:t>
            </a:r>
          </a:p>
          <a:p>
            <a:pPr algn="l"/>
            <a:endParaRPr sz="11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[41] Kingma, D. P. &amp; Ba, J. (2017). Adam: A method for stochastic optimization. arXiv.</a:t>
            </a:r>
          </a:p>
          <a:p>
            <a:pPr algn="l"/>
            <a:endParaRPr sz="110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[44] Ljung, G. M. &amp; Box, G. E. P. (1978). On a measure of lack of fit in time series models.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199632"/>
            <a:ext cx="11338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556677"/>
                </a:solidFill>
                <a:latin typeface="Calibri"/>
              </a:rPr>
              <a:t>Tam liste için rapora bakınız (52 referans · IEEE format).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56677"/>
                </a:solidFill>
                <a:latin typeface="Calibri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468880"/>
            <a:ext cx="12191695" cy="54864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0" b="1" i="0" dirty="0" err="1">
                <a:solidFill>
                  <a:srgbClr val="FFFFFF"/>
                </a:solidFill>
                <a:latin typeface="Calibri"/>
              </a:rPr>
              <a:t>Teşekkürler</a:t>
            </a:r>
            <a:endParaRPr sz="7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CFE0F2"/>
                </a:solidFill>
                <a:latin typeface="Calibri"/>
              </a:rPr>
              <a:t>Sorularınız için hazırım.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Sude Su  ·  2220381037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CFE0F2"/>
                </a:solidFill>
                <a:latin typeface="Calibri"/>
              </a:rPr>
              <a:t>Hacettepe Üniversitesi  ·  Aktüerya Bilimleri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CFE0F2"/>
                </a:solidFill>
                <a:latin typeface="Calibri"/>
              </a:rPr>
              <a:t>Danışman: Övgücan Karadağ Erdemir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2859</Words>
  <Application>Microsoft Macintosh PowerPoint</Application>
  <PresentationFormat>Geniş ekran</PresentationFormat>
  <Paragraphs>468</Paragraphs>
  <Slides>25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SUDE SU</cp:lastModifiedBy>
  <cp:revision>3</cp:revision>
  <dcterms:created xsi:type="dcterms:W3CDTF">2013-01-27T09:14:16Z</dcterms:created>
  <dcterms:modified xsi:type="dcterms:W3CDTF">2026-05-20T15:17:05Z</dcterms:modified>
  <cp:category/>
</cp:coreProperties>
</file>